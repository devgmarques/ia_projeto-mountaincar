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7dded58a7846e0" /><Relationship Type="http://schemas.openxmlformats.org/officeDocument/2006/relationships/extended-properties" Target="/docProps/app.xml" Id="Rd1467905e14048c4" /><Relationship Type="http://schemas.openxmlformats.org/officeDocument/2006/relationships/officeDocument" Target="/ppt/presentation.xml" Id="R92b2ee3c367640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5af83a838d4ba1"/>
  </p:sldMasterIdLst>
  <p:notesMasterIdLst>
    <p:notesMasterId xmlns:r="http://schemas.openxmlformats.org/officeDocument/2006/relationships" r:id="Rd87dec946b7f4bce"/>
  </p:notesMasterIdLst>
  <p:sldIdLst>
    <p:sldId xmlns:r="http://schemas.openxmlformats.org/officeDocument/2006/relationships" id="256" r:id="Rf89e091e170c4872"/>
    <p:sldId xmlns:r="http://schemas.openxmlformats.org/officeDocument/2006/relationships" id="257" r:id="Ra74719f3d25142f6"/>
    <p:sldId xmlns:r="http://schemas.openxmlformats.org/officeDocument/2006/relationships" id="258" r:id="R5424c78fc1f142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6f2ecb34ce4777" /><Relationship Type="http://schemas.openxmlformats.org/officeDocument/2006/relationships/slideMaster" Target="/ppt/slideMasters/slideMaster1.xml" Id="Rbe5af83a838d4ba1" /><Relationship Type="http://schemas.openxmlformats.org/officeDocument/2006/relationships/notesMaster" Target="/ppt/notesMasters/notesMaster1.xml" Id="Rd87dec946b7f4bce" /><Relationship Type="http://schemas.openxmlformats.org/officeDocument/2006/relationships/presProps" Target="/ppt/presProps.xml" Id="R3319e7d822f64e3a" /><Relationship Type="http://schemas.openxmlformats.org/officeDocument/2006/relationships/tableStyles" Target="/ppt/tableStyles.xml" Id="R65faf31718c64211" /><Relationship Type="http://schemas.openxmlformats.org/officeDocument/2006/relationships/slide" Target="/ppt/slides/slide1.xml" Id="Rf89e091e170c4872" /><Relationship Type="http://schemas.openxmlformats.org/officeDocument/2006/relationships/slide" Target="/ppt/slides/slide2.xml" Id="Ra74719f3d25142f6" /><Relationship Type="http://schemas.openxmlformats.org/officeDocument/2006/relationships/slide" Target="/ppt/slides/slide3.xml" Id="R5424c78fc1f142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ca8bba83d046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a72ff446bf4093" /><Relationship Type="http://schemas.openxmlformats.org/officeDocument/2006/relationships/notesMaster" Target="/ppt/notesMasters/notesMaster1.xml" Id="Re704fe4a5de245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330da01f924f0d" /><Relationship Type="http://schemas.openxmlformats.org/officeDocument/2006/relationships/notesMaster" Target="/ppt/notesMasters/notesMaster1.xml" Id="Rf8631edd87c040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43b525eed84697" /><Relationship Type="http://schemas.openxmlformats.org/officeDocument/2006/relationships/notesMaster" Target="/ppt/notesMasters/notesMaster1.xml" Id="R0f8c3d99ec3d42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e imagem: https://gymnasium.farama.org/environments/toy_text/taxi/ e https://gymnasium.farama.org/_images/taxi.gif (consulta 28/10/2026). Configuração padrão: is_rainy=False e fickle_passenger=False. O agente observa o estado estruturado, não precisa interpretar pixels. O mapa é fixo. O limite externo de passos é truncamento de execução, não uma variável do MDP base. Objetivo: embarcar e desembarcar no destino correto. Ainda não há resultados de treinamento.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https://gymnasium.farama.org/environments/toy_text/taxi/. IDs: 0 sul, 1 norte, 2 leste, 3 oeste, 4 embarcar, 5 desembarcar. Embarque e desembarque são ações explícitas. Bater em parede não termina o episódio, apenas mantém a posição e custa -1. Ações ilegais de embarque/desembarque custam -10. No Taxi padrão, desembarcar em outro ponto designado pode ser permitido sem terminar a tarefa, recebendo -1; ilegal não é sinônimo de qualquer desembarque fora do destino.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https://gymnasium.farama.org/environments/toy_text/taxi/. Recompensas originais, não valores inventados. As categorias são alternativas: +20 na entrega, -10 nas ações ilegais de atendimento e -1 nos demais passos. Uma entrega com 12 ações no total, sem penalidades ilegais, rende 20-11=9 sem desconto. O sucesso termina o MDP; o wrapper padrão trunca após 200 passos. Pode-se começar comparando uma política aleatória com Q-learning; DQN será uma extensão se exigido pelo professor. Não afirmar treinamento realizado. Repositório será criado pelo aluno e compartilhado com o professor.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76e9f9974243f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33e671678b4cd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1c3675444c4e3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789e98bc25427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8dc67e762e47c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14a19c392147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DDBADC-B917-4AD1-BB8E-D2BAB78C5F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00BD5E8-AF43-4A5F-9E33-0E34976B808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E8C014B-A909-4852-83B4-76189D0663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05CDDE-2C1B-4322-902C-110BC09B84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C83832E-5AA0-4366-8932-C095EED989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1982118-EDC1-4833-BCEC-F0B38EF4C1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C129AC3-2DCB-474D-BE3A-6D7C0980F7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64AB264-1E82-4B55-9D50-468F049B1E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8DA320-38A0-45F1-826C-49B61F0C13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BE6DD06-F535-4F1E-AF12-624EFDA3BC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26e479645c47c9" /><Relationship Type="http://schemas.openxmlformats.org/officeDocument/2006/relationships/slideLayout" Target="/ppt/slideLayouts/slideLayout1.xml" Id="Rc54f74aad64c4aaa" /><Relationship Type="http://schemas.openxmlformats.org/officeDocument/2006/relationships/slideLayout" Target="/ppt/slideLayouts/slideLayout2.xml" Id="Re467428684964bb7" /><Relationship Type="http://schemas.openxmlformats.org/officeDocument/2006/relationships/slideLayout" Target="/ppt/slideLayouts/slideLayout3.xml" Id="R5ccc3079e6614b28" /><Relationship Type="http://schemas.openxmlformats.org/officeDocument/2006/relationships/slideLayout" Target="/ppt/slideLayouts/slideLayout4.xml" Id="Rd4e6f3eaa60f4fcf" /><Relationship Type="http://schemas.openxmlformats.org/officeDocument/2006/relationships/slideLayout" Target="/ppt/slideLayouts/slideLayout5.xml" Id="R70e62073736e4715" /><Relationship Type="http://schemas.openxmlformats.org/officeDocument/2006/relationships/slideLayout" Target="/ppt/slideLayouts/slideLayout6.xml" Id="Rbfc179199ea049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4f74aad64c4aaa"/>
    <p:sldLayoutId xmlns:r="http://schemas.openxmlformats.org/officeDocument/2006/relationships" id="2147483650" r:id="Re467428684964bb7"/>
    <p:sldLayoutId xmlns:r="http://schemas.openxmlformats.org/officeDocument/2006/relationships" id="2147483651" r:id="R5ccc3079e6614b28"/>
    <p:sldLayoutId xmlns:r="http://schemas.openxmlformats.org/officeDocument/2006/relationships" id="2147483652" r:id="Rd4e6f3eaa60f4fcf"/>
    <p:sldLayoutId xmlns:r="http://schemas.openxmlformats.org/officeDocument/2006/relationships" id="2147483653" r:id="R70e62073736e4715"/>
    <p:sldLayoutId xmlns:r="http://schemas.openxmlformats.org/officeDocument/2006/relationships" id="2147483654" r:id="Rbfc179199ea049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ff35bdbd5b4e19" /><Relationship Type="http://schemas.openxmlformats.org/officeDocument/2006/relationships/image" Target="/ppt/media/image.png" Id="R7dc11e7552064da4" /><Relationship Type="http://schemas.openxmlformats.org/officeDocument/2006/relationships/notesSlide" Target="/ppt/notesSlides/notesSlide1.xml" Id="R32b733138ecb4f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3b8a3713aa4bfe" /><Relationship Type="http://schemas.openxmlformats.org/officeDocument/2006/relationships/notesSlide" Target="/ppt/notesSlides/notesSlide2.xml" Id="R485c8d731e1642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450db5f92d4e37" /><Relationship Type="http://schemas.openxmlformats.org/officeDocument/2006/relationships/notesSlide" Target="/ppt/notesSlides/notesSlide3.xml" Id="R499398a78fcd40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3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520F18-E7B6-4393-9960-D7B11A36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9C74F"/>
                </a:solidFill>
                <a:latin typeface="Arial"/>
                <a:ea typeface="Arial"/>
                <a:cs typeface="Arial"/>
              </a:rPr>
              <a:t>01  /  AMBIENTE E ESTADO MARKOVIANO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3138A-926B-46E5-84D6-3D658E06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Taxi: buscar e transportar um passageiro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87F4C9-9191-468B-94E7-25970C09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9C6D7"/>
                </a:solidFill>
                <a:latin typeface="Arial"/>
                <a:ea typeface="Arial"/>
                <a:cs typeface="Arial"/>
              </a:rPr>
              <a:t>Gustavo Marques  /  IA · UFU  /  Desafio 1  /  29.10.2026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6E1F7-43A5-4425-82A8-7F95DBB3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9C74F"/>
                </a:solidFill>
                <a:latin typeface="Arial"/>
                <a:ea typeface="Arial"/>
                <a:cs typeface="Arial"/>
              </a:rPr>
              <a:t>1/3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41531-6FC4-4BA8-9D27-06624AC7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6D7"/>
                </a:solidFill>
                <a:latin typeface="Arial"/>
                <a:ea typeface="Arial"/>
                <a:cs typeface="Arial"/>
              </a:rPr>
              <a:t>O agente controla um táxi em um mapa 5 × 5 com paredes e quatro pontos de atendimento.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8034F-5E1B-44B2-917A-30F6BFE40D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c11e7552064da4"/>
          <a:stretch xmlns:a="http://schemas.openxmlformats.org/drawingml/2006/main"/>
        </p:blipFill>
        <p:spPr>
          <a:xfrm xmlns:a="http://schemas.openxmlformats.org/drawingml/2006/main">
            <a:off x="953001" y="2286000"/>
            <a:ext cx="3694697" cy="3143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59178F-923A-48C5-BF33-2C722BC6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9C6D7"/>
                </a:solidFill>
                <a:latin typeface="Arial"/>
                <a:ea typeface="Arial"/>
                <a:cs typeface="Arial"/>
              </a:rPr>
              <a:t>Ambiente existente: Gymnasium / Taxi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BE8EAD-290F-4A76-87D3-715C1EE9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241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9C74F"/>
                </a:solidFill>
                <a:latin typeface="Arial"/>
                <a:ea typeface="Arial"/>
                <a:cs typeface="Arial"/>
              </a:rPr>
              <a:t>O QUE O AGENTE OBSERVA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B00173-7F49-4F69-AEFA-C5AB7AF8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71775"/>
            <a:ext cx="600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s = (linha, coluna, passageiro, destino)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FD1F2-9C87-461B-BB2A-B6F0814C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43275"/>
            <a:ext cx="581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6FA"/>
                </a:solidFill>
                <a:latin typeface="Arial"/>
                <a:ea typeface="Arial"/>
                <a:cs typeface="Arial"/>
              </a:rPr>
              <a:t>Posição do táxi no mapa.</a:t>
            </a:r>
          </a:p>
          <a:p xmlns:a="http://schemas.openxmlformats.org/drawingml/2006/main">
            <a:pPr>
              <a:defRPr sz="1875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6FA"/>
                </a:solidFill>
                <a:latin typeface="Arial"/>
                <a:ea typeface="Arial"/>
                <a:cs typeface="Arial"/>
              </a:rPr>
              <a:t>Local do passageiro ou indicação “no táxi”.</a:t>
            </a:r>
          </a:p>
          <a:p xmlns:a="http://schemas.openxmlformats.org/drawingml/2006/main">
            <a:pPr>
              <a:defRPr sz="1875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6FA"/>
                </a:solidFill>
                <a:latin typeface="Arial"/>
                <a:ea typeface="Arial"/>
                <a:cs typeface="Arial"/>
              </a:rPr>
              <a:t>Destino solicitado entre os quatro pontos.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7EFBA9-031D-4664-B666-0B82C5CF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76775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3D9E6"/>
                </a:solidFill>
                <a:latin typeface="Arial"/>
                <a:ea typeface="Arial"/>
                <a:cs typeface="Arial"/>
              </a:rPr>
              <a:t>Por que é markoviano?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6698FB-BA77-4E1C-AFCE-9F25B7D7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05400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9C6D7"/>
                </a:solidFill>
                <a:latin typeface="Arial"/>
                <a:ea typeface="Arial"/>
                <a:cs typeface="Arial"/>
              </a:rPr>
              <a:t>Com o mapa fixo e essas informações, a próxima transição depende do estado atual e da ação, sem consultar a trajetória anterior.</a:t>
            </a:r>
          </a:p>
        </p:txBody>
      </p:sp>
    </p:spTree>
    <p:extLst>
      <p:ext uri="{BB962C8B-B14F-4D97-AF65-F5344CB8AC3E}">
        <p14:creationId xmlns:p14="http://schemas.microsoft.com/office/powerpoint/2010/main" val="19226701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13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CD3FAB-9EEB-4693-94C5-FB7D5165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9C74F"/>
                </a:solidFill>
                <a:latin typeface="Arial"/>
                <a:ea typeface="Arial"/>
                <a:cs typeface="Arial"/>
              </a:rPr>
              <a:t>02  /  DECISÕES DO AGENTE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973B3-E9D3-4258-A1EF-84F276D7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Seis ações para completar a viagem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90C77-5408-491B-A887-AEDBD83B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9C6D7"/>
                </a:solidFill>
                <a:latin typeface="Arial"/>
                <a:ea typeface="Arial"/>
                <a:cs typeface="Arial"/>
              </a:rPr>
              <a:t>Gustavo Marques  /  IA · UFU  /  Desafio 1  /  29.10.2026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445A2-F78F-4B13-AFDE-A51CC211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9C74F"/>
                </a:solidFill>
                <a:latin typeface="Arial"/>
                <a:ea typeface="Arial"/>
                <a:cs typeface="Arial"/>
              </a:rPr>
              <a:t>2/3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AD011-4922-4C9C-8990-BD0A6E27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9C74F"/>
                </a:solidFill>
                <a:latin typeface="Arial"/>
                <a:ea typeface="Arial"/>
                <a:cs typeface="Arial"/>
              </a:rPr>
              <a:t>MOVIMENTAÇÃO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6EBC8C-6F47-45D5-80FA-58FB9AD0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6FA"/>
                </a:solidFill>
                <a:latin typeface="Arial"/>
                <a:ea typeface="Arial"/>
                <a:cs typeface="Arial"/>
              </a:rPr>
              <a:t>Sul (baixo)                 Norte (cima)</a:t>
            </a:r>
          </a:p>
          <a:p xmlns:a="http://schemas.openxmlformats.org/drawingml/2006/main">
            <a:pPr>
              <a:defRPr sz="21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6FA"/>
                </a:solidFill>
                <a:latin typeface="Arial"/>
                <a:ea typeface="Arial"/>
                <a:cs typeface="Arial"/>
              </a:rPr>
              <a:t>Leste (direita)            Oeste (esquerda)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ADD82E-3E58-4D32-AD34-EC8910E9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523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9C6D7"/>
                </a:solidFill>
                <a:latin typeface="Arial"/>
                <a:ea typeface="Arial"/>
                <a:cs typeface="Arial"/>
              </a:rPr>
              <a:t>Cada ação tenta mover uma célula.</a:t>
            </a:r>
          </a:p>
          <a:p xmlns:a="http://schemas.openxmlformats.org/drawingml/2006/main">
            <a:pPr>
              <a:defRPr sz="19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9C6D7"/>
                </a:solidFill>
                <a:latin typeface="Arial"/>
                <a:ea typeface="Arial"/>
                <a:cs typeface="Arial"/>
              </a:rPr>
              <a:t>Paredes e bordas bloqueiam o movimento.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A33D7A-E10F-4C80-98D5-E58D0973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1452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9C74F"/>
                </a:solidFill>
                <a:latin typeface="Arial"/>
                <a:ea typeface="Arial"/>
                <a:cs typeface="Arial"/>
              </a:rPr>
              <a:t>ATENDIMENTO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00D585-6EB2-4D69-B057-EFCE76AF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669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Embarcar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6C77F-3204-419C-B9A2-86551DE7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4322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6D7"/>
                </a:solidFill>
                <a:latin typeface="Arial"/>
                <a:ea typeface="Arial"/>
                <a:cs typeface="Arial"/>
              </a:rPr>
              <a:t>Buscar o passageiro na mesma célula.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3594D-E622-4CBA-85E2-8F1B4045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719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Desembarcar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D3A51-72D4-401E-A8DC-3B1394A3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248150"/>
            <a:ext cx="447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6D7"/>
                </a:solidFill>
                <a:latin typeface="Arial"/>
                <a:ea typeface="Arial"/>
                <a:cs typeface="Arial"/>
              </a:rPr>
              <a:t>Deixar o passageiro no destino correto</a:t>
            </a:r>
          </a:p>
          <a:p xmlns:a="http://schemas.openxmlformats.org/drawingml/2006/main">
            <a: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6D7"/>
                </a:solidFill>
                <a:latin typeface="Arial"/>
                <a:ea typeface="Arial"/>
                <a:cs typeface="Arial"/>
              </a:rPr>
              <a:t>para concluir a tarefa.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70F6F5-3F4A-4E2F-B294-DF9056C5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0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3D9E6"/>
                </a:solidFill>
                <a:latin typeface="Arial"/>
                <a:ea typeface="Arial"/>
                <a:cs typeface="Arial"/>
              </a:rPr>
              <a:t>Chegar ao destino não basta: o agente precisa executar “desembarcar”.</a:t>
            </a:r>
          </a:p>
        </p:txBody>
      </p:sp>
    </p:spTree>
    <p:extLst>
      <p:ext uri="{BB962C8B-B14F-4D97-AF65-F5344CB8AC3E}">
        <p14:creationId xmlns:p14="http://schemas.microsoft.com/office/powerpoint/2010/main" val="17544833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3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5F0C0F-0438-4212-8B83-9DB0BD35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9C74F"/>
                </a:solidFill>
                <a:latin typeface="Arial"/>
                <a:ea typeface="Arial"/>
                <a:cs typeface="Arial"/>
              </a:rPr>
              <a:t>03  /  RECOMPENSAS E OBJETIVO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B6F3F0-DB80-4ED5-87DD-BE8703F0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Aprender a entregar com eficiência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EF7EFB-38AB-43E0-A302-0C0DCB90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9C6D7"/>
                </a:solidFill>
                <a:latin typeface="Arial"/>
                <a:ea typeface="Arial"/>
                <a:cs typeface="Arial"/>
              </a:rPr>
              <a:t>Gustavo Marques  /  IA · UFU  /  Desafio 1  /  29.10.2026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1A8E1-33B6-4C67-B442-A3B75DB3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9C74F"/>
                </a:solidFill>
                <a:latin typeface="Arial"/>
                <a:ea typeface="Arial"/>
                <a:cs typeface="Arial"/>
              </a:rPr>
              <a:t>3/3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D199CA-4562-4383-815C-19628B8C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defPPr>
            <a:lvl1pPr>
              <a:defRPr sz="5400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1pPr>
            <a:lvl2pPr>
              <a:defRPr sz="5400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2pPr>
            <a:lvl3pPr>
              <a:defRPr sz="5400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3pPr>
            <a:lvl4pPr>
              <a:defRPr sz="5400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4pPr>
            <a:lvl5pPr>
              <a:defRPr sz="5400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5pPr>
            <a:lvl6pPr>
              <a:defRPr sz="5400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6pPr>
            <a:lvl7pPr>
              <a:defRPr sz="5400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7pPr>
            <a:lvl8pPr>
              <a:defRPr sz="5400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8pPr>
            <a:lvl9pPr>
              <a:defRPr sz="5400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43D9E6"/>
                </a:solidFill>
                <a:latin typeface="Arial"/>
                <a:ea typeface="Arial"/>
                <a:cs typeface="Arial"/>
              </a:rPr>
              <a:t>+20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0F32C-4E29-4503-A280-F75F4AC5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Entrega correta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02968-AF37-41C4-AAFD-A8662526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3286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6D7"/>
                </a:solidFill>
                <a:latin typeface="Arial"/>
                <a:ea typeface="Arial"/>
                <a:cs typeface="Arial"/>
              </a:rPr>
              <a:t>Desembarcar no destino</a:t>
            </a:r>
          </a:p>
          <a:p xmlns:a="http://schemas.openxmlformats.org/drawingml/2006/main">
            <a: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6D7"/>
                </a:solidFill>
                <a:latin typeface="Arial"/>
                <a:ea typeface="Arial"/>
                <a:cs typeface="Arial"/>
              </a:rPr>
              <a:t>encerra a tarefa.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CAE1F-1740-4559-B57E-71054BDE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FF919D"/>
                </a:solidFill>
                <a:latin typeface="Arial"/>
                <a:ea typeface="Arial"/>
                <a:cs typeface="Arial"/>
              </a:defRPr>
            </a:defPPr>
            <a:lvl1pPr>
              <a:defRPr sz="5400" b="1">
                <a:solidFill>
                  <a:srgbClr val="FF919D"/>
                </a:solidFill>
                <a:latin typeface="Arial"/>
                <a:ea typeface="Arial"/>
                <a:cs typeface="Arial"/>
              </a:defRPr>
            </a:lvl1pPr>
            <a:lvl2pPr>
              <a:defRPr sz="5400" b="1">
                <a:solidFill>
                  <a:srgbClr val="FF919D"/>
                </a:solidFill>
                <a:latin typeface="Arial"/>
                <a:ea typeface="Arial"/>
                <a:cs typeface="Arial"/>
              </a:defRPr>
            </a:lvl2pPr>
            <a:lvl3pPr>
              <a:defRPr sz="5400" b="1">
                <a:solidFill>
                  <a:srgbClr val="FF919D"/>
                </a:solidFill>
                <a:latin typeface="Arial"/>
                <a:ea typeface="Arial"/>
                <a:cs typeface="Arial"/>
              </a:defRPr>
            </a:lvl3pPr>
            <a:lvl4pPr>
              <a:defRPr sz="5400" b="1">
                <a:solidFill>
                  <a:srgbClr val="FF919D"/>
                </a:solidFill>
                <a:latin typeface="Arial"/>
                <a:ea typeface="Arial"/>
                <a:cs typeface="Arial"/>
              </a:defRPr>
            </a:lvl4pPr>
            <a:lvl5pPr>
              <a:defRPr sz="5400" b="1">
                <a:solidFill>
                  <a:srgbClr val="FF919D"/>
                </a:solidFill>
                <a:latin typeface="Arial"/>
                <a:ea typeface="Arial"/>
                <a:cs typeface="Arial"/>
              </a:defRPr>
            </a:lvl5pPr>
            <a:lvl6pPr>
              <a:defRPr sz="5400" b="1">
                <a:solidFill>
                  <a:srgbClr val="FF919D"/>
                </a:solidFill>
                <a:latin typeface="Arial"/>
                <a:ea typeface="Arial"/>
                <a:cs typeface="Arial"/>
              </a:defRPr>
            </a:lvl6pPr>
            <a:lvl7pPr>
              <a:defRPr sz="5400" b="1">
                <a:solidFill>
                  <a:srgbClr val="FF919D"/>
                </a:solidFill>
                <a:latin typeface="Arial"/>
                <a:ea typeface="Arial"/>
                <a:cs typeface="Arial"/>
              </a:defRPr>
            </a:lvl7pPr>
            <a:lvl8pPr>
              <a:defRPr sz="5400" b="1">
                <a:solidFill>
                  <a:srgbClr val="FF919D"/>
                </a:solidFill>
                <a:latin typeface="Arial"/>
                <a:ea typeface="Arial"/>
                <a:cs typeface="Arial"/>
              </a:defRPr>
            </a:lvl8pPr>
            <a:lvl9pPr>
              <a:defRPr sz="5400" b="1">
                <a:solidFill>
                  <a:srgbClr val="FF91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F919D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919D"/>
                </a:solidFill>
                <a:latin typeface="Arial"/>
                <a:ea typeface="Arial"/>
                <a:cs typeface="Arial"/>
              </a:rPr>
              <a:t>−10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DD36A-7165-43B8-9B05-18ABEDEE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05150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Atendimento ilegal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18BB19-CE94-4C42-8FCB-F1BE802C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67125"/>
            <a:ext cx="3286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6D7"/>
                </a:solidFill>
                <a:latin typeface="Arial"/>
                <a:ea typeface="Arial"/>
                <a:cs typeface="Arial"/>
              </a:rPr>
              <a:t>Tentar embarcar ou</a:t>
            </a:r>
          </a:p>
          <a:p xmlns:a="http://schemas.openxmlformats.org/drawingml/2006/main">
            <a: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6D7"/>
                </a:solidFill>
                <a:latin typeface="Arial"/>
                <a:ea typeface="Arial"/>
                <a:cs typeface="Arial"/>
              </a:rPr>
              <a:t>desembarcar ilegalmente.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A57E90-B047-4937-81F5-18637139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955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defPPr>
            <a:lvl1pPr>
              <a:defRPr sz="54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1pPr>
            <a:lvl2pPr>
              <a:defRPr sz="54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2pPr>
            <a:lvl3pPr>
              <a:defRPr sz="54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3pPr>
            <a:lvl4pPr>
              <a:defRPr sz="54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4pPr>
            <a:lvl5pPr>
              <a:defRPr sz="54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5pPr>
            <a:lvl6pPr>
              <a:defRPr sz="54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6pPr>
            <a:lvl7pPr>
              <a:defRPr sz="54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7pPr>
            <a:lvl8pPr>
              <a:defRPr sz="54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8pPr>
            <a:lvl9pPr>
              <a:defRPr sz="54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9C74F"/>
                </a:solidFill>
                <a:latin typeface="Arial"/>
                <a:ea typeface="Arial"/>
                <a:cs typeface="Arial"/>
              </a:rPr>
              <a:t>−1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4079F0-32FF-4EF4-B732-D44C0771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05150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Demais passos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7B8D31-FED9-486E-AEB7-77DC981F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67125"/>
            <a:ext cx="3286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6D7"/>
                </a:solidFill>
                <a:latin typeface="Arial"/>
                <a:ea typeface="Arial"/>
                <a:cs typeface="Arial"/>
              </a:rPr>
              <a:t>Inclui movimentos</a:t>
            </a:r>
          </a:p>
          <a:p xmlns:a="http://schemas.openxmlformats.org/drawingml/2006/main">
            <a: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6D7"/>
                </a:solidFill>
                <a:latin typeface="Arial"/>
                <a:ea typeface="Arial"/>
                <a:cs typeface="Arial"/>
              </a:rPr>
              <a:t>bloqueados por paredes.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6DA6FF-E5F2-458C-95BE-73CE0379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Objetivo: maximizar a recompensa acumulada durante a viagem.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2236D5-4AA8-4CCF-8425-01365D6F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6D7"/>
                </a:solidFill>
                <a:latin typeface="Arial"/>
                <a:ea typeface="Arial"/>
                <a:cs typeface="Arial"/>
              </a:rPr>
              <a:t>Avaliação futura: taxa de sucesso, passos por entrega e ações ilegais.</a:t>
            </a:r>
          </a:p>
          <a:p xmlns:a="http://schemas.openxmlformats.org/drawingml/2006/main">
            <a:pPr>
              <a:defRPr sz="17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6D7"/>
                </a:solidFill>
                <a:latin typeface="Arial"/>
                <a:ea typeface="Arial"/>
                <a:cs typeface="Arial"/>
              </a:rPr>
              <a:t>Proposta inicial; treinamento e comparação de agentes nas próximas etapas.</a:t>
            </a:r>
          </a:p>
        </p:txBody>
      </p:sp>
    </p:spTree>
    <p:extLst>
      <p:ext uri="{BB962C8B-B14F-4D97-AF65-F5344CB8AC3E}">
        <p14:creationId xmlns:p14="http://schemas.microsoft.com/office/powerpoint/2010/main" val="14953329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2026-10-29T00:49:00.6280000Z</dcterms:created>
  <dcterms:modified xsi:type="dcterms:W3CDTF">2026-10-29T00:49:00.6280000Z</dcterms:modified>
</coreProperties>
</file>