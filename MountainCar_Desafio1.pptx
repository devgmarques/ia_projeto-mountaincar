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02aca059746f1" /><Relationship Type="http://schemas.openxmlformats.org/officeDocument/2006/relationships/extended-properties" Target="/docProps/app.xml" Id="R7cf0fdecacbf415d" /><Relationship Type="http://schemas.openxmlformats.org/officeDocument/2006/relationships/officeDocument" Target="/ppt/presentation.xml" Id="Rf772e3368ebe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2860a41a34063"/>
  </p:sldMasterIdLst>
  <p:notesMasterIdLst>
    <p:notesMasterId xmlns:r="http://schemas.openxmlformats.org/officeDocument/2006/relationships" r:id="R662e3ad10d234107"/>
  </p:notesMasterIdLst>
  <p:sldIdLst>
    <p:sldId xmlns:r="http://schemas.openxmlformats.org/officeDocument/2006/relationships" id="256" r:id="R85734f54633949d9"/>
    <p:sldId xmlns:r="http://schemas.openxmlformats.org/officeDocument/2006/relationships" id="257" r:id="R8f2e6579e5674897"/>
    <p:sldId xmlns:r="http://schemas.openxmlformats.org/officeDocument/2006/relationships" id="258" r:id="Rb78430e407f24e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9e7ac8a524886" /><Relationship Type="http://schemas.openxmlformats.org/officeDocument/2006/relationships/slideMaster" Target="/ppt/slideMasters/slideMaster1.xml" Id="Rf4f2860a41a34063" /><Relationship Type="http://schemas.openxmlformats.org/officeDocument/2006/relationships/notesMaster" Target="/ppt/notesMasters/notesMaster1.xml" Id="R662e3ad10d234107" /><Relationship Type="http://schemas.openxmlformats.org/officeDocument/2006/relationships/presProps" Target="/ppt/presProps.xml" Id="Rc41cf824c20449e3" /><Relationship Type="http://schemas.openxmlformats.org/officeDocument/2006/relationships/tableStyles" Target="/ppt/tableStyles.xml" Id="Rd3693612cd5e4c74" /><Relationship Type="http://schemas.openxmlformats.org/officeDocument/2006/relationships/slide" Target="/ppt/slides/slide1.xml" Id="R85734f54633949d9" /><Relationship Type="http://schemas.openxmlformats.org/officeDocument/2006/relationships/slide" Target="/ppt/slides/slide2.xml" Id="R8f2e6579e5674897" /><Relationship Type="http://schemas.openxmlformats.org/officeDocument/2006/relationships/slide" Target="/ppt/slides/slide3.xml" Id="Rb78430e407f24e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cad4efd557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3f91fbdfe94786" /><Relationship Type="http://schemas.openxmlformats.org/officeDocument/2006/relationships/notesMaster" Target="/ppt/notesMasters/notesMaster1.xml" Id="R4ede57c447164a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d59185adfa4ef8" /><Relationship Type="http://schemas.openxmlformats.org/officeDocument/2006/relationships/notesMaster" Target="/ppt/notesMasters/notesMaster1.xml" Id="R96f098f90ec7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8d6cc3e0f04265" /><Relationship Type="http://schemas.openxmlformats.org/officeDocument/2006/relationships/notesMaster" Target="/ppt/notesMasters/notesMaster1.xml" Id="R645aa73bb80449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https://gymnasium.farama.org/environments/classic_control/mountain_car/ e https://github.com/Farama-Foundation/Gymnasium/blob/main/gymnasium/envs/classic_control/mountain_car.py . Consulta: 29/10/2026. Imagem: https://gymnasium.farama.org/_images/mountain_car.gif . O agente observa dois números, não precisa reconhecer pixels. Usamos MountainCar-v0 com ações discretas e goal_velocity=0. Posição e velocidade são contínuas. Mesma posição com velocidades diferentes pode exigir decisões diferentes. O vale e os parâmetros físicos são fixos. A inicialização é aleatória, mas a transição padrão é determinística. O limite externo de passos é truncamento, não uma parte do MDP físico base. Não há resultados de treinamento nesta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https://gymnasium.farama.org/environments/classic_control/mountain_car/ e https://github.com/Farama-Foundation/Gymnasium/blob/main/gymnasium/envs/classic_control/mountain_car.py . Consulta: 29/10/2026. As ações oficiais são acelerar à esquerda, não acelerar e acelerar à direita. “Motor desligado” significa força de motor zero, não velocidade zero nem aceleração total zero. Gravidade e velocidade atual continuam afetando a trajetória. Uma ação à direita não inverte instantaneamente um carro que se move à esquerda. A estratégia de ganhar embalo é a intuição do problema; ela será aprendida e avaliada, não apresentada como resultado já obtido. O agente escolhe uma ação por passo.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https://gymnasium.farama.org/environments/classic_control/mountain_car/ e https://github.com/Farama-Foundation/Gymnasium/blob/main/gymnasium/envs/classic_control/mountain_car.py . Consulta: 29/10/2026. Recompensa -1.0 em todas as transições, inclusive a que termina com sucesso. Sem desconto, retorno G=-T; portanto 120 passos rendem -120. Não há +100 ou +20 ao alcançar a meta. Na configuração padrão, sucesso exige x&gt;=0.5 e v&gt;=0 (goal_velocity=0). O TimeLimit trunca após 200 passos; isso não significa sucesso e não traz uma penalidade adicional de -200. Caso a chegada aconteça no passo 200, registrar o sucesso pelo sinal de terminação. O estado (x,v) modela a dinâmica base; se o prazo passar a fazer parte do objetivo de um MDP de horizonte finito, incluir tempo restante. Os números 120 e 180 são exemplos hipotéticos, não resultados. Plano: política aleatória e DQN; considerar Q-learning com discretização como comparação. Ainda não há agente treinado.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bc9d8f24248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e9bf179734a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2d29644b647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210f2b0d74d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abb25527e49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228052fc740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436C92-561D-4AAA-A379-E5DC5D06F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9A4F56-62F8-4EEA-8C77-29B27E0AC5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62A2C0-9CB0-4D75-BB63-3209AA86D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8BC4C0-125B-4027-82D3-187F4BC563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903791-5C8C-460F-BE38-6BB884870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861AD1-E26B-44CA-9851-33C81A20C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77E03C-53A0-45E5-8E03-78D3B9491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829993-8E80-43D8-9034-4F59258945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B6FF5E-0EEB-4E4A-B731-3D4332C72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56D696-11ED-4161-A948-44315B88A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497148a97a4d58" /><Relationship Type="http://schemas.openxmlformats.org/officeDocument/2006/relationships/slideLayout" Target="/ppt/slideLayouts/slideLayout1.xml" Id="R1d2df84700cc4481" /><Relationship Type="http://schemas.openxmlformats.org/officeDocument/2006/relationships/slideLayout" Target="/ppt/slideLayouts/slideLayout2.xml" Id="R3faff8bef42e4257" /><Relationship Type="http://schemas.openxmlformats.org/officeDocument/2006/relationships/slideLayout" Target="/ppt/slideLayouts/slideLayout3.xml" Id="R9ef5c0c05737450f" /><Relationship Type="http://schemas.openxmlformats.org/officeDocument/2006/relationships/slideLayout" Target="/ppt/slideLayouts/slideLayout4.xml" Id="Reeb7f70745814a3f" /><Relationship Type="http://schemas.openxmlformats.org/officeDocument/2006/relationships/slideLayout" Target="/ppt/slideLayouts/slideLayout5.xml" Id="Rc0aa93dd6c014689" /><Relationship Type="http://schemas.openxmlformats.org/officeDocument/2006/relationships/slideLayout" Target="/ppt/slideLayouts/slideLayout6.xml" Id="R85fc21c5529f4c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df84700cc4481"/>
    <p:sldLayoutId xmlns:r="http://schemas.openxmlformats.org/officeDocument/2006/relationships" id="2147483650" r:id="R3faff8bef42e4257"/>
    <p:sldLayoutId xmlns:r="http://schemas.openxmlformats.org/officeDocument/2006/relationships" id="2147483651" r:id="R9ef5c0c05737450f"/>
    <p:sldLayoutId xmlns:r="http://schemas.openxmlformats.org/officeDocument/2006/relationships" id="2147483652" r:id="Reeb7f70745814a3f"/>
    <p:sldLayoutId xmlns:r="http://schemas.openxmlformats.org/officeDocument/2006/relationships" id="2147483653" r:id="Rc0aa93dd6c014689"/>
    <p:sldLayoutId xmlns:r="http://schemas.openxmlformats.org/officeDocument/2006/relationships" id="2147483654" r:id="R85fc21c5529f4c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1c663f0624e92" /><Relationship Type="http://schemas.openxmlformats.org/officeDocument/2006/relationships/image" Target="/ppt/media/image.png" Id="R9dd5ca0edcb442d9" /><Relationship Type="http://schemas.openxmlformats.org/officeDocument/2006/relationships/notesSlide" Target="/ppt/notesSlides/notesSlide1.xml" Id="Ra0662524020144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52f774cb245cf" /><Relationship Type="http://schemas.openxmlformats.org/officeDocument/2006/relationships/notesSlide" Target="/ppt/notesSlides/notesSlide2.xml" Id="R7205a5a957b048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0c42f74e947b5" /><Relationship Type="http://schemas.openxmlformats.org/officeDocument/2006/relationships/notesSlide" Target="/ppt/notesSlides/notesSlide3.xml" Id="R0f9acd7f1a3d48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D986F-AE0F-47FB-AAF6-0A4D12E7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AMBIENTE E ESTADO MARKOVIANO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7A0B6-3280-495A-93BB-9F38C0C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MountainCar: alcançar o topo com embalo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B8ED8-D8C8-4074-B5C4-E14B031B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Gustavo Marques Oliveira  /  IA · UFU  /  Desafio 1  / 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67E16-B79A-465C-9E5D-09AC922D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9C74F"/>
                </a:solidFill>
                <a:latin typeface="Arial"/>
                <a:ea typeface="Arial"/>
                <a:cs typeface="Arial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1B543-46B1-4017-B326-5DA327E1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Um carro com motor limitado precisa alcançar a bandeira na encosta direita.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B672C-226D-4904-A625-D47FD8FEA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5ca0edcb442d9"/>
          <a:stretch xmlns:a="http://schemas.openxmlformats.org/drawingml/2006/main"/>
        </p:blipFill>
        <p:spPr>
          <a:xfrm xmlns:a="http://schemas.openxmlformats.org/drawingml/2006/main">
            <a:off x="609600" y="2470150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DE6A4-562A-4C4A-BA5C-986234E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Ambiente pronto: Gymnasium / MountainCar-v0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A03DA-7F7A-4F19-BC1E-4C313424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INFORMAÇÕES DISPONÍVEIS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9D05-BD4A-453E-AD27-61C9A7EA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90825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s = (posição, velocidade)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9A5A6-8237-457A-A8AC-36532DFA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09950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Posição: onde o carro está no vale.</a:t>
            </a:r>
          </a:p>
          <a:p xmlns:a="http://schemas.openxmlformats.org/drawingml/2006/main">
            <a: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Velocidade: sentido e rapidez do movimento.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7245E-8892-4666-B480-9B743EF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552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3D9E6"/>
                </a:solidFill>
                <a:latin typeface="Arial"/>
                <a:ea typeface="Arial"/>
                <a:cs typeface="Arial"/>
              </a:rPr>
              <a:t>Por que é markoviano?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90A7D-A4C7-4A84-B1CF-8E0071D5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38725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Com a física fixa, posição e velocidade atuais mais a ação determinam o próximo estado. Não é necessário guardar todo o trajeto.</a:t>
            </a:r>
          </a:p>
        </p:txBody>
      </p:sp>
    </p:spTree>
    <p:extLst>
      <p:ext uri="{BB962C8B-B14F-4D97-AF65-F5344CB8AC3E}">
        <p14:creationId xmlns:p14="http://schemas.microsoft.com/office/powerpoint/2010/main" val="865945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AE6D7-E29B-4687-A4DD-F810B60E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   DECISÕES DO AGENTE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1B607-22A2-4F91-9BA2-CC09FBFD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Três escolhas de força do motor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E5FBB-2DC6-415E-BE1C-7A29CB8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Gustavo Marques Oliveira  /  IA · UFU  /  Desafio 1  / 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3A7C8-FAB5-493C-8233-FBFCAFD2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9C74F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B3B2B-FAF4-4F99-876D-575FE48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7D30E-2F66-40E5-9D49-3AA31A6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Motor à esquerda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B6EE1-354F-482F-B202-BA755F2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Aplicar força do motor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para a esquerda.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A55BE-8CF2-4046-A956-81664A75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02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3A363-6A5B-4298-9F4C-D12113A1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765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Motor desligado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2CCFB-4456-4519-8BCB-8123FD1A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052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Não aplicar força do motor.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 física continua agindo.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73713-FE9E-4FB6-B3A7-626BFCB5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89647-9F76-4B89-AD60-7E81F90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Motor à direita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498BD-B158-4C31-8925-ACFB5F88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052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Aplicar força do motor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para a direita.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A3EEC-02CF-44E0-BB1A-F72FF84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3D9E6"/>
                </a:solidFill>
                <a:latin typeface="Arial"/>
                <a:ea typeface="Arial"/>
                <a:cs typeface="Arial"/>
              </a:rPr>
              <a:t>A força escolhida modifica a velocidade e influencia a trajetória.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9F39A-76A2-4EE2-BC26-C7AEA683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O desafio é coordenar os impulsos para ganhar embalo e alcançar a meta.</a:t>
            </a:r>
          </a:p>
          <a:p xmlns:a="http://schemas.openxmlformats.org/drawingml/2006/main">
            <a:pPr>
              <a:defRPr sz="187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Ir temporariamente para a esquerda pode ajudar a subir pela direita.</a:t>
            </a:r>
          </a:p>
        </p:txBody>
      </p:sp>
    </p:spTree>
    <p:extLst>
      <p:ext uri="{BB962C8B-B14F-4D97-AF65-F5344CB8AC3E}">
        <p14:creationId xmlns:p14="http://schemas.microsoft.com/office/powerpoint/2010/main" val="2018737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2E880-E0A5-444D-B76F-C59B3E6E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RECOMPENSA E AVALIAÇÃO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A2595-4163-4045-9592-4F8F8579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Alcançar a meta em menos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035DB-0AD4-4B24-985D-D458A66F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Gustavo Marques Oliveira  /  IA · UFU  /  Desafio 1  / 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B396D-776F-4101-84E6-88F9818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9C74F"/>
                </a:solidFill>
                <a:latin typeface="Arial"/>
                <a:ea typeface="Arial"/>
                <a:cs typeface="Arial"/>
              </a:rPr>
              <a:t>3/3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F1B57-EBAA-42BE-9E26-52CE132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AB078-2A4E-497C-99B8-C4F485B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6FA"/>
                </a:solidFill>
                <a:latin typeface="Arial"/>
                <a:ea typeface="Arial"/>
                <a:cs typeface="Arial"/>
              </a:rPr>
              <a:t>por passo, inclusive o último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D490F-1FA1-4BBA-A088-1D8C4511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Recompensa original do ambiente.</a:t>
            </a:r>
          </a:p>
          <a:p xmlns:a="http://schemas.openxmlformats.org/drawingml/2006/main">
            <a:pPr>
              <a:defRPr sz="195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Não há bônus positivo ao chegar.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E914A-7003-421D-874B-ADD9B82B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514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9C74F"/>
                </a:solidFill>
                <a:latin typeface="Arial"/>
                <a:ea typeface="Arial"/>
                <a:cs typeface="Arial"/>
              </a:rPr>
              <a:t>FIM DA TENTATIVA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24012-A902-4E1A-B205-0BB68CCF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3367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Sucesso: atingir a meta na encosta direita.</a:t>
            </a:r>
          </a:p>
          <a:p xmlns:a="http://schemas.openxmlformats.org/drawingml/2006/main">
            <a:pPr>
              <a:defRPr sz="195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Limite externo: 200 passos por tentativa.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A59A3-E4F7-4C4D-A392-C8083038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909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3D9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3D9E6"/>
                </a:solidFill>
                <a:latin typeface="Arial"/>
                <a:ea typeface="Arial"/>
                <a:cs typeface="Arial"/>
              </a:rPr>
              <a:t>Exemplo de retorno sem desconto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334CE-691A-4F18-9C80-0BB26C7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Meta em 120 passos: −120</a:t>
            </a:r>
          </a:p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Meta em 180 passos: −180</a:t>
            </a:r>
          </a:p>
          <a:p xmlns:a="http://schemas.openxmlformats.org/drawingml/2006/main">
            <a:pPr>
              <a:defRPr sz="2100" b="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6FA"/>
                </a:solidFill>
                <a:latin typeface="Arial"/>
                <a:ea typeface="Arial"/>
                <a:cs typeface="Arial"/>
              </a:rPr>
              <a:t>−120 é melhor que −180.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AD3E5-05F7-4DA1-99D3-1B46ACC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9C6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6D7"/>
                </a:solidFill>
                <a:latin typeface="Arial"/>
                <a:ea typeface="Arial"/>
                <a:cs typeface="Arial"/>
              </a:rPr>
              <a:t>Avaliação futura: taxa de sucesso, passos até a meta e retorno por episódio.</a:t>
            </a:r>
          </a:p>
        </p:txBody>
      </p:sp>
    </p:spTree>
    <p:extLst>
      <p:ext uri="{BB962C8B-B14F-4D97-AF65-F5344CB8AC3E}">
        <p14:creationId xmlns:p14="http://schemas.microsoft.com/office/powerpoint/2010/main" val="1689323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2026-10-29T10:17:02.4520000Z</dcterms:created>
  <dcterms:modified xsi:type="dcterms:W3CDTF">2026-10-29T10:17:02.4520000Z</dcterms:modified>
</coreProperties>
</file>